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Lst>
  <p:sldSz cx="14630400" cy="8229600"/>
  <p:notesSz cx="8229600" cy="14630400"/>
  <p:embeddedFontLst>
    <p:embeddedFont>
      <p:font typeface="DM Sans Medium" pitchFamily="34" charset="0"/>
      <p:bold r:id="rId11"/>
    </p:embeddedFont>
    <p:embeddedFont>
      <p:font typeface="DM Sans Medium" pitchFamily="34" charset="-122"/>
      <p:bold r:id="rId12"/>
    </p:embeddedFont>
    <p:embeddedFont>
      <p:font typeface="DM Sans Medium" pitchFamily="34" charset="-120"/>
      <p:bold r:id="rId13"/>
    </p:embeddedFont>
    <p:embeddedFont>
      <p:font typeface="Inter" panose="02000503000000020004" pitchFamily="34" charset="0"/>
      <p:bold r:id="rId14"/>
    </p:embeddedFont>
    <p:embeddedFont>
      <p:font typeface="Inter" panose="02000503000000020004" pitchFamily="34" charset="-122"/>
      <p:bold r:id="rId15"/>
    </p:embeddedFont>
    <p:embeddedFont>
      <p:font typeface="Inter" panose="02000503000000020004" pitchFamily="34" charset="-120"/>
      <p:bold r:id="rId16"/>
    </p:embeddedFont>
    <p:embeddedFont>
      <p:font typeface="Calibri" panose="020F0502020204030204" charset="0"/>
      <p:regular r:id="rId17"/>
      <p:bold r:id="rId18"/>
      <p:italic r:id="rId19"/>
      <p:boldItalic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font" Target="fonts/font10.fntdata"/><Relationship Id="rId2" Type="http://schemas.openxmlformats.org/officeDocument/2006/relationships/theme" Target="theme/theme1.xml"/><Relationship Id="rId19" Type="http://schemas.openxmlformats.org/officeDocument/2006/relationships/font" Target="fonts/font9.fntdata"/><Relationship Id="rId18" Type="http://schemas.openxmlformats.org/officeDocument/2006/relationships/font" Target="fonts/font8.fntdata"/><Relationship Id="rId17" Type="http://schemas.openxmlformats.org/officeDocument/2006/relationships/font" Target="fonts/font7.fntdata"/><Relationship Id="rId16" Type="http://schemas.openxmlformats.org/officeDocument/2006/relationships/font" Target="fonts/font6.fntdata"/><Relationship Id="rId15" Type="http://schemas.openxmlformats.org/officeDocument/2006/relationships/font" Target="fonts/font5.fntdata"/><Relationship Id="rId14" Type="http://schemas.openxmlformats.org/officeDocument/2006/relationships/font" Target="fonts/font4.fntdata"/><Relationship Id="rId13" Type="http://schemas.openxmlformats.org/officeDocument/2006/relationships/font" Target="fonts/font3.fntdata"/><Relationship Id="rId12" Type="http://schemas.openxmlformats.org/officeDocument/2006/relationships/font" Target="fonts/font2.fntdata"/><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p:spPr>
      </p:sp>
      <p:sp>
        <p:nvSpPr>
          <p:cNvPr id="3" name="Shape 1"/>
          <p:cNvSpPr/>
          <p:nvPr/>
        </p:nvSpPr>
        <p:spPr>
          <a:xfrm>
            <a:off x="0" y="0"/>
            <a:ext cx="14630400" cy="8229600"/>
          </a:xfrm>
          <a:prstGeom prst="rect">
            <a:avLst/>
          </a:prstGeom>
          <a:solidFill>
            <a:srgbClr val="2D3133"/>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p:spPr>
      </p:sp>
      <p:sp>
        <p:nvSpPr>
          <p:cNvPr id="3" name="Shape 1"/>
          <p:cNvSpPr/>
          <p:nvPr/>
        </p:nvSpPr>
        <p:spPr>
          <a:xfrm>
            <a:off x="0" y="0"/>
            <a:ext cx="14630400" cy="8229600"/>
          </a:xfrm>
          <a:prstGeom prst="rect">
            <a:avLst/>
          </a:prstGeom>
          <a:solidFill>
            <a:srgbClr val="2D3133"/>
          </a:solidFill>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p:spPr>
      </p:sp>
      <p:sp>
        <p:nvSpPr>
          <p:cNvPr id="3" name="Shape 1"/>
          <p:cNvSpPr/>
          <p:nvPr/>
        </p:nvSpPr>
        <p:spPr>
          <a:xfrm>
            <a:off x="0" y="0"/>
            <a:ext cx="14630400" cy="8229600"/>
          </a:xfrm>
          <a:prstGeom prst="rect">
            <a:avLst/>
          </a:prstGeom>
          <a:solidFill>
            <a:srgbClr val="2D3133"/>
          </a:solidFill>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p:spPr>
      </p:sp>
      <p:sp>
        <p:nvSpPr>
          <p:cNvPr id="3" name="Shape 1"/>
          <p:cNvSpPr/>
          <p:nvPr/>
        </p:nvSpPr>
        <p:spPr>
          <a:xfrm>
            <a:off x="0" y="0"/>
            <a:ext cx="14630400" cy="8229600"/>
          </a:xfrm>
          <a:prstGeom prst="rect">
            <a:avLst/>
          </a:prstGeom>
          <a:solidFill>
            <a:srgbClr val="2D3133"/>
          </a:solidFill>
        </p:spPr>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50" y="464820"/>
            <a:ext cx="12001500" cy="620395"/>
          </a:xfrm>
          <a:prstGeom prst="rect">
            <a:avLst/>
          </a:prstGeom>
          <a:noFill/>
        </p:spPr>
        <p:txBody>
          <a:bodyPr wrap="non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Forecastability Index &amp; Demand Segmentation </a:t>
            </a:r>
            <a:endParaRPr lang="en-US" sz="3900" dirty="0">
              <a:solidFill>
                <a:srgbClr val="F7F7F8"/>
              </a:solidFill>
              <a:latin typeface="DM Sans Medium" pitchFamily="34" charset="0"/>
              <a:ea typeface="DM Sans Medium" pitchFamily="34" charset="-122"/>
              <a:cs typeface="DM Sans Medium" pitchFamily="34" charset="-120"/>
            </a:endParaRPr>
          </a:p>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Nikitina Savin Dubenskiy</a:t>
            </a:r>
            <a:endParaRPr lang="en-US" sz="3900" dirty="0">
              <a:solidFill>
                <a:srgbClr val="F7F7F8"/>
              </a:solidFill>
              <a:latin typeface="DM Sans Medium" pitchFamily="34" charset="0"/>
              <a:ea typeface="DM Sans Medium" pitchFamily="34" charset="-122"/>
              <a:cs typeface="DM Sans Medium" pitchFamily="34" charset="-120"/>
            </a:endParaRPr>
          </a:p>
          <a:p>
            <a:pPr marL="0" indent="0" algn="l">
              <a:lnSpc>
                <a:spcPts val="4850"/>
              </a:lnSpc>
              <a:buNone/>
            </a:pPr>
            <a:endParaRPr lang="en-US" sz="3900" dirty="0"/>
          </a:p>
        </p:txBody>
      </p:sp>
      <p:sp>
        <p:nvSpPr>
          <p:cNvPr id="3" name="Text 1"/>
          <p:cNvSpPr/>
          <p:nvPr/>
        </p:nvSpPr>
        <p:spPr>
          <a:xfrm>
            <a:off x="793790" y="2062956"/>
            <a:ext cx="13042821" cy="95261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Understanding which demand patterns are predictable is critical for effective planning. Forecastability measures how accurately we can predict future demand based on historical patterns. Different time series exhibit vastly different levels of predictability—some are stable and seasonal, others are highly volatile or intermittent.</a:t>
            </a:r>
            <a:endParaRPr lang="en-US" sz="1550" dirty="0"/>
          </a:p>
        </p:txBody>
      </p:sp>
      <p:sp>
        <p:nvSpPr>
          <p:cNvPr id="4" name="Text 2"/>
          <p:cNvSpPr/>
          <p:nvPr/>
        </p:nvSpPr>
        <p:spPr>
          <a:xfrm>
            <a:off x="793790" y="3417253"/>
            <a:ext cx="13042821" cy="95261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This project creates an interpretable map of demand forecastability across all store-product combinations. By segmenting time series into clusters with similar predictability characteristics and business importance, we enable targeted forecasting strategies: sophisticated models for predictable high-volume items, alternative approaches for challenging low-volume or intermittent demand.</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87768"/>
            <a:ext cx="12940784" cy="620078"/>
          </a:xfrm>
          <a:prstGeom prst="rect">
            <a:avLst/>
          </a:prstGeom>
          <a:noFill/>
        </p:spPr>
        <p:txBody>
          <a:bodyPr wrap="non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Segmentation Framework: 5-Dimensional Classification</a:t>
            </a:r>
            <a:endParaRPr lang="en-US" sz="3900" dirty="0"/>
          </a:p>
        </p:txBody>
      </p:sp>
      <p:sp>
        <p:nvSpPr>
          <p:cNvPr id="3" name="Text 1"/>
          <p:cNvSpPr/>
          <p:nvPr/>
        </p:nvSpPr>
        <p:spPr>
          <a:xfrm>
            <a:off x="793790" y="2204680"/>
            <a:ext cx="13042821" cy="317540"/>
          </a:xfrm>
          <a:prstGeom prst="rect">
            <a:avLst/>
          </a:prstGeom>
          <a:noFill/>
        </p:spPr>
        <p:txBody>
          <a:bodyPr wrap="non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Every time series is classified along five fundamental demand characteristics, creating a multi-dimensional segmentation space:</a:t>
            </a:r>
            <a:endParaRPr lang="en-US" sz="1550" dirty="0"/>
          </a:p>
        </p:txBody>
      </p:sp>
      <p:sp>
        <p:nvSpPr>
          <p:cNvPr id="4" name="Shape 2"/>
          <p:cNvSpPr/>
          <p:nvPr/>
        </p:nvSpPr>
        <p:spPr>
          <a:xfrm>
            <a:off x="793790" y="2745462"/>
            <a:ext cx="4215289" cy="1778556"/>
          </a:xfrm>
          <a:prstGeom prst="roundRect">
            <a:avLst>
              <a:gd name="adj" fmla="val 1674"/>
            </a:avLst>
          </a:prstGeom>
          <a:solidFill>
            <a:srgbClr val="4C5052"/>
          </a:solidFill>
        </p:spPr>
      </p:sp>
      <p:sp>
        <p:nvSpPr>
          <p:cNvPr id="5" name="Text 3"/>
          <p:cNvSpPr/>
          <p:nvPr/>
        </p:nvSpPr>
        <p:spPr>
          <a:xfrm>
            <a:off x="992148" y="2943820"/>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Demand Volume</a:t>
            </a:r>
            <a:endParaRPr lang="en-US" sz="1950" dirty="0"/>
          </a:p>
        </p:txBody>
      </p:sp>
      <p:sp>
        <p:nvSpPr>
          <p:cNvPr id="6" name="Text 4"/>
          <p:cNvSpPr/>
          <p:nvPr/>
        </p:nvSpPr>
        <p:spPr>
          <a:xfrm>
            <a:off x="992148" y="3373041"/>
            <a:ext cx="3818573" cy="95261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Total sales magnitude classified into three tiers: Low, Medium, High based on historical totals</a:t>
            </a:r>
            <a:endParaRPr lang="en-US" sz="1550" dirty="0"/>
          </a:p>
        </p:txBody>
      </p:sp>
      <p:sp>
        <p:nvSpPr>
          <p:cNvPr id="7" name="Shape 5"/>
          <p:cNvSpPr/>
          <p:nvPr/>
        </p:nvSpPr>
        <p:spPr>
          <a:xfrm>
            <a:off x="5207437" y="2745462"/>
            <a:ext cx="4215408" cy="1778556"/>
          </a:xfrm>
          <a:prstGeom prst="roundRect">
            <a:avLst>
              <a:gd name="adj" fmla="val 1674"/>
            </a:avLst>
          </a:prstGeom>
          <a:solidFill>
            <a:srgbClr val="4C5052"/>
          </a:solidFill>
        </p:spPr>
      </p:sp>
      <p:sp>
        <p:nvSpPr>
          <p:cNvPr id="8" name="Text 6"/>
          <p:cNvSpPr/>
          <p:nvPr/>
        </p:nvSpPr>
        <p:spPr>
          <a:xfrm>
            <a:off x="5405795" y="2943820"/>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Demand Variability</a:t>
            </a:r>
            <a:endParaRPr lang="en-US" sz="1950" dirty="0"/>
          </a:p>
        </p:txBody>
      </p:sp>
      <p:sp>
        <p:nvSpPr>
          <p:cNvPr id="9" name="Text 7"/>
          <p:cNvSpPr/>
          <p:nvPr/>
        </p:nvSpPr>
        <p:spPr>
          <a:xfrm>
            <a:off x="5405795" y="3373041"/>
            <a:ext cx="3818692" cy="95261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Volatility coefficient measuring fluctuation intensity: Low, Medium, High variance groups</a:t>
            </a:r>
            <a:endParaRPr lang="en-US" sz="1550" dirty="0"/>
          </a:p>
        </p:txBody>
      </p:sp>
      <p:sp>
        <p:nvSpPr>
          <p:cNvPr id="10" name="Shape 8"/>
          <p:cNvSpPr/>
          <p:nvPr/>
        </p:nvSpPr>
        <p:spPr>
          <a:xfrm>
            <a:off x="9621203" y="2745462"/>
            <a:ext cx="4215289" cy="1778556"/>
          </a:xfrm>
          <a:prstGeom prst="roundRect">
            <a:avLst>
              <a:gd name="adj" fmla="val 1674"/>
            </a:avLst>
          </a:prstGeom>
          <a:solidFill>
            <a:srgbClr val="4C5052"/>
          </a:solidFill>
        </p:spPr>
      </p:sp>
      <p:sp>
        <p:nvSpPr>
          <p:cNvPr id="11" name="Text 9"/>
          <p:cNvSpPr/>
          <p:nvPr/>
        </p:nvSpPr>
        <p:spPr>
          <a:xfrm>
            <a:off x="9819561" y="2943820"/>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Seasonality</a:t>
            </a:r>
            <a:endParaRPr lang="en-US" sz="1950" dirty="0"/>
          </a:p>
        </p:txBody>
      </p:sp>
      <p:sp>
        <p:nvSpPr>
          <p:cNvPr id="12" name="Text 10"/>
          <p:cNvSpPr/>
          <p:nvPr/>
        </p:nvSpPr>
        <p:spPr>
          <a:xfrm>
            <a:off x="9819561" y="3373041"/>
            <a:ext cx="3818573" cy="95261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Binary flag: Presence or absence of recurring seasonal patterns detected statistically</a:t>
            </a:r>
            <a:endParaRPr lang="en-US" sz="1550" dirty="0"/>
          </a:p>
        </p:txBody>
      </p:sp>
      <p:sp>
        <p:nvSpPr>
          <p:cNvPr id="13" name="Shape 11"/>
          <p:cNvSpPr/>
          <p:nvPr/>
        </p:nvSpPr>
        <p:spPr>
          <a:xfrm>
            <a:off x="793790" y="4722376"/>
            <a:ext cx="6422112" cy="1461016"/>
          </a:xfrm>
          <a:prstGeom prst="roundRect">
            <a:avLst>
              <a:gd name="adj" fmla="val 2038"/>
            </a:avLst>
          </a:prstGeom>
          <a:solidFill>
            <a:srgbClr val="4C5052"/>
          </a:solidFill>
        </p:spPr>
      </p:sp>
      <p:sp>
        <p:nvSpPr>
          <p:cNvPr id="14" name="Text 12"/>
          <p:cNvSpPr/>
          <p:nvPr/>
        </p:nvSpPr>
        <p:spPr>
          <a:xfrm>
            <a:off x="992148" y="4920734"/>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Trend</a:t>
            </a:r>
            <a:endParaRPr lang="en-US" sz="1950" dirty="0"/>
          </a:p>
        </p:txBody>
      </p:sp>
      <p:sp>
        <p:nvSpPr>
          <p:cNvPr id="15" name="Text 13"/>
          <p:cNvSpPr/>
          <p:nvPr/>
        </p:nvSpPr>
        <p:spPr>
          <a:xfrm>
            <a:off x="992148" y="5349954"/>
            <a:ext cx="6025396"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Binary flag: Presence or absence of systematic directional movement over time</a:t>
            </a:r>
            <a:endParaRPr lang="en-US" sz="1550" dirty="0"/>
          </a:p>
        </p:txBody>
      </p:sp>
      <p:sp>
        <p:nvSpPr>
          <p:cNvPr id="16" name="Shape 14"/>
          <p:cNvSpPr/>
          <p:nvPr/>
        </p:nvSpPr>
        <p:spPr>
          <a:xfrm>
            <a:off x="7414260" y="4722376"/>
            <a:ext cx="6422231" cy="1461016"/>
          </a:xfrm>
          <a:prstGeom prst="roundRect">
            <a:avLst>
              <a:gd name="adj" fmla="val 2038"/>
            </a:avLst>
          </a:prstGeom>
          <a:solidFill>
            <a:srgbClr val="4C5052"/>
          </a:solidFill>
        </p:spPr>
      </p:sp>
      <p:sp>
        <p:nvSpPr>
          <p:cNvPr id="17" name="Text 15"/>
          <p:cNvSpPr/>
          <p:nvPr/>
        </p:nvSpPr>
        <p:spPr>
          <a:xfrm>
            <a:off x="7612618" y="4920734"/>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Intermittency</a:t>
            </a:r>
            <a:endParaRPr lang="en-US" sz="1950" dirty="0"/>
          </a:p>
        </p:txBody>
      </p:sp>
      <p:sp>
        <p:nvSpPr>
          <p:cNvPr id="18" name="Text 16"/>
          <p:cNvSpPr/>
          <p:nvPr/>
        </p:nvSpPr>
        <p:spPr>
          <a:xfrm>
            <a:off x="7612618" y="5349954"/>
            <a:ext cx="6025515"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Binary flag: Whether demand has frequent zero-sales periods indicating sporadic purchasing</a:t>
            </a:r>
            <a:endParaRPr lang="en-US" sz="1550" dirty="0"/>
          </a:p>
        </p:txBody>
      </p:sp>
      <p:sp>
        <p:nvSpPr>
          <p:cNvPr id="19" name="Text 17"/>
          <p:cNvSpPr/>
          <p:nvPr/>
        </p:nvSpPr>
        <p:spPr>
          <a:xfrm>
            <a:off x="793790" y="6406634"/>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These five attributes combine to create distinct 5-dimensional cells (e.g., "High volume, Medium variability, Seasonal, No trend, Not intermittent"). Each cell represents a unique demand profile with specific forecasting challenges and opportunities.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76432"/>
            <a:ext cx="10069116" cy="620078"/>
          </a:xfrm>
          <a:prstGeom prst="rect">
            <a:avLst/>
          </a:prstGeom>
          <a:noFill/>
        </p:spPr>
        <p:txBody>
          <a:bodyPr wrap="non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Benchmarking Forecastability Performance</a:t>
            </a:r>
            <a:endParaRPr lang="en-US" sz="3900" dirty="0"/>
          </a:p>
        </p:txBody>
      </p:sp>
      <p:sp>
        <p:nvSpPr>
          <p:cNvPr id="3" name="Text 1"/>
          <p:cNvSpPr/>
          <p:nvPr/>
        </p:nvSpPr>
        <p:spPr>
          <a:xfrm>
            <a:off x="793790" y="1993344"/>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To measure inherent predictability of each segment, we implement a standardized naive forecasting benchmark across all time series and aggregate results to the 5-dimensional cell level.</a:t>
            </a:r>
            <a:endParaRPr lang="en-US" sz="1550" dirty="0"/>
          </a:p>
        </p:txBody>
      </p:sp>
      <p:sp>
        <p:nvSpPr>
          <p:cNvPr id="4" name="Text 2"/>
          <p:cNvSpPr/>
          <p:nvPr/>
        </p:nvSpPr>
        <p:spPr>
          <a:xfrm>
            <a:off x="793790" y="2851666"/>
            <a:ext cx="198358" cy="248007"/>
          </a:xfrm>
          <a:prstGeom prst="rect">
            <a:avLst/>
          </a:prstGeom>
          <a:noFill/>
        </p:spPr>
        <p:txBody>
          <a:bodyPr wrap="none" lIns="0" tIns="0" rIns="0" bIns="0" rtlCol="0" anchor="t"/>
          <a:lstStyle/>
          <a:p>
            <a:pPr marL="0" indent="0" algn="l">
              <a:lnSpc>
                <a:spcPts val="2500"/>
              </a:lnSpc>
              <a:buNone/>
            </a:pPr>
            <a:r>
              <a:rPr lang="en-US" sz="1550" dirty="0">
                <a:solidFill>
                  <a:srgbClr val="D6D9D7"/>
                </a:solidFill>
                <a:latin typeface="DM Sans Light" pitchFamily="34" charset="0"/>
                <a:ea typeface="DM Sans Light" pitchFamily="34" charset="-122"/>
                <a:cs typeface="DM Sans Light" pitchFamily="34" charset="-120"/>
              </a:rPr>
              <a:t>01</a:t>
            </a:r>
            <a:endParaRPr lang="en-US" sz="1550" dirty="0"/>
          </a:p>
        </p:txBody>
      </p:sp>
      <p:sp>
        <p:nvSpPr>
          <p:cNvPr id="5" name="Shape 3"/>
          <p:cNvSpPr/>
          <p:nvPr/>
        </p:nvSpPr>
        <p:spPr>
          <a:xfrm>
            <a:off x="793790" y="3165991"/>
            <a:ext cx="6422231" cy="22860"/>
          </a:xfrm>
          <a:prstGeom prst="rect">
            <a:avLst/>
          </a:prstGeom>
          <a:solidFill>
            <a:srgbClr val="AC9EF5"/>
          </a:solidFill>
        </p:spPr>
      </p:sp>
      <p:sp>
        <p:nvSpPr>
          <p:cNvPr id="6" name="Text 4"/>
          <p:cNvSpPr/>
          <p:nvPr/>
        </p:nvSpPr>
        <p:spPr>
          <a:xfrm>
            <a:off x="793790" y="3310890"/>
            <a:ext cx="3009067"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Generate Naive Forecasts</a:t>
            </a:r>
            <a:endParaRPr lang="en-US" sz="1950" dirty="0"/>
          </a:p>
        </p:txBody>
      </p:sp>
      <p:sp>
        <p:nvSpPr>
          <p:cNvPr id="7" name="Text 5"/>
          <p:cNvSpPr/>
          <p:nvPr/>
        </p:nvSpPr>
        <p:spPr>
          <a:xfrm>
            <a:off x="793790" y="3740110"/>
            <a:ext cx="6422231"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Apply simple naive method (last period value) to every store-product time series as baseline prediction</a:t>
            </a:r>
            <a:endParaRPr lang="en-US" sz="1550" dirty="0"/>
          </a:p>
        </p:txBody>
      </p:sp>
      <p:sp>
        <p:nvSpPr>
          <p:cNvPr id="8" name="Text 6"/>
          <p:cNvSpPr/>
          <p:nvPr/>
        </p:nvSpPr>
        <p:spPr>
          <a:xfrm>
            <a:off x="7414379" y="2851666"/>
            <a:ext cx="198358" cy="248007"/>
          </a:xfrm>
          <a:prstGeom prst="rect">
            <a:avLst/>
          </a:prstGeom>
          <a:noFill/>
        </p:spPr>
        <p:txBody>
          <a:bodyPr wrap="none" lIns="0" tIns="0" rIns="0" bIns="0" rtlCol="0" anchor="t"/>
          <a:lstStyle/>
          <a:p>
            <a:pPr marL="0" indent="0" algn="l">
              <a:lnSpc>
                <a:spcPts val="2500"/>
              </a:lnSpc>
              <a:buNone/>
            </a:pPr>
            <a:r>
              <a:rPr lang="en-US" sz="1550" dirty="0">
                <a:solidFill>
                  <a:srgbClr val="D6D9D7"/>
                </a:solidFill>
                <a:latin typeface="DM Sans Light" pitchFamily="34" charset="0"/>
                <a:ea typeface="DM Sans Light" pitchFamily="34" charset="-122"/>
                <a:cs typeface="DM Sans Light" pitchFamily="34" charset="-120"/>
              </a:rPr>
              <a:t>02</a:t>
            </a:r>
            <a:endParaRPr lang="en-US" sz="1550" dirty="0"/>
          </a:p>
        </p:txBody>
      </p:sp>
      <p:sp>
        <p:nvSpPr>
          <p:cNvPr id="9" name="Shape 7"/>
          <p:cNvSpPr/>
          <p:nvPr/>
        </p:nvSpPr>
        <p:spPr>
          <a:xfrm>
            <a:off x="7414379" y="3165991"/>
            <a:ext cx="6422231" cy="22860"/>
          </a:xfrm>
          <a:prstGeom prst="rect">
            <a:avLst/>
          </a:prstGeom>
          <a:solidFill>
            <a:srgbClr val="AC9EF5"/>
          </a:solidFill>
        </p:spPr>
      </p:sp>
      <p:sp>
        <p:nvSpPr>
          <p:cNvPr id="10" name="Text 8"/>
          <p:cNvSpPr/>
          <p:nvPr/>
        </p:nvSpPr>
        <p:spPr>
          <a:xfrm>
            <a:off x="7414379" y="3310890"/>
            <a:ext cx="2665333"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Calculate WAPE Metric</a:t>
            </a:r>
            <a:endParaRPr lang="en-US" sz="1950" dirty="0"/>
          </a:p>
        </p:txBody>
      </p:sp>
      <p:sp>
        <p:nvSpPr>
          <p:cNvPr id="11" name="Text 9"/>
          <p:cNvSpPr/>
          <p:nvPr/>
        </p:nvSpPr>
        <p:spPr>
          <a:xfrm>
            <a:off x="7414379" y="3740110"/>
            <a:ext cx="6422231"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Compute Weighted Absolute Percentage Error for each series, giving higher weight to larger volume items</a:t>
            </a:r>
            <a:endParaRPr lang="en-US" sz="1550" dirty="0"/>
          </a:p>
        </p:txBody>
      </p:sp>
      <p:sp>
        <p:nvSpPr>
          <p:cNvPr id="12" name="Text 10"/>
          <p:cNvSpPr/>
          <p:nvPr/>
        </p:nvSpPr>
        <p:spPr>
          <a:xfrm>
            <a:off x="793790" y="4722376"/>
            <a:ext cx="198358" cy="248007"/>
          </a:xfrm>
          <a:prstGeom prst="rect">
            <a:avLst/>
          </a:prstGeom>
          <a:noFill/>
        </p:spPr>
        <p:txBody>
          <a:bodyPr wrap="none" lIns="0" tIns="0" rIns="0" bIns="0" rtlCol="0" anchor="t"/>
          <a:lstStyle/>
          <a:p>
            <a:pPr marL="0" indent="0" algn="l">
              <a:lnSpc>
                <a:spcPts val="2500"/>
              </a:lnSpc>
              <a:buNone/>
            </a:pPr>
            <a:r>
              <a:rPr lang="en-US" sz="1550" dirty="0">
                <a:solidFill>
                  <a:srgbClr val="D6D9D7"/>
                </a:solidFill>
                <a:latin typeface="DM Sans Light" pitchFamily="34" charset="0"/>
                <a:ea typeface="DM Sans Light" pitchFamily="34" charset="-122"/>
                <a:cs typeface="DM Sans Light" pitchFamily="34" charset="-120"/>
              </a:rPr>
              <a:t>03</a:t>
            </a:r>
            <a:endParaRPr lang="en-US" sz="1550" dirty="0"/>
          </a:p>
        </p:txBody>
      </p:sp>
      <p:sp>
        <p:nvSpPr>
          <p:cNvPr id="13" name="Shape 11"/>
          <p:cNvSpPr/>
          <p:nvPr/>
        </p:nvSpPr>
        <p:spPr>
          <a:xfrm>
            <a:off x="793790" y="5036701"/>
            <a:ext cx="6422231" cy="22860"/>
          </a:xfrm>
          <a:prstGeom prst="rect">
            <a:avLst/>
          </a:prstGeom>
          <a:solidFill>
            <a:srgbClr val="AC9EF5"/>
          </a:solidFill>
        </p:spPr>
      </p:sp>
      <p:sp>
        <p:nvSpPr>
          <p:cNvPr id="14" name="Text 12"/>
          <p:cNvSpPr/>
          <p:nvPr/>
        </p:nvSpPr>
        <p:spPr>
          <a:xfrm>
            <a:off x="793790" y="5181600"/>
            <a:ext cx="2952869"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Aggregate to 5-Dim Cells</a:t>
            </a:r>
            <a:endParaRPr lang="en-US" sz="1950" dirty="0"/>
          </a:p>
        </p:txBody>
      </p:sp>
      <p:sp>
        <p:nvSpPr>
          <p:cNvPr id="15" name="Text 13"/>
          <p:cNvSpPr/>
          <p:nvPr/>
        </p:nvSpPr>
        <p:spPr>
          <a:xfrm>
            <a:off x="793790" y="5610820"/>
            <a:ext cx="6422231"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Roll up individual WAPE scores to cell level, creating average forecastability index per segment</a:t>
            </a:r>
            <a:endParaRPr lang="en-US" sz="1550" dirty="0"/>
          </a:p>
        </p:txBody>
      </p:sp>
      <p:sp>
        <p:nvSpPr>
          <p:cNvPr id="16" name="Text 14"/>
          <p:cNvSpPr/>
          <p:nvPr/>
        </p:nvSpPr>
        <p:spPr>
          <a:xfrm>
            <a:off x="7414379" y="4722376"/>
            <a:ext cx="198358" cy="248007"/>
          </a:xfrm>
          <a:prstGeom prst="rect">
            <a:avLst/>
          </a:prstGeom>
          <a:noFill/>
        </p:spPr>
        <p:txBody>
          <a:bodyPr wrap="none" lIns="0" tIns="0" rIns="0" bIns="0" rtlCol="0" anchor="t"/>
          <a:lstStyle/>
          <a:p>
            <a:pPr marL="0" indent="0" algn="l">
              <a:lnSpc>
                <a:spcPts val="2500"/>
              </a:lnSpc>
              <a:buNone/>
            </a:pPr>
            <a:r>
              <a:rPr lang="en-US" sz="1550" dirty="0">
                <a:solidFill>
                  <a:srgbClr val="D6D9D7"/>
                </a:solidFill>
                <a:latin typeface="DM Sans Light" pitchFamily="34" charset="0"/>
                <a:ea typeface="DM Sans Light" pitchFamily="34" charset="-122"/>
                <a:cs typeface="DM Sans Light" pitchFamily="34" charset="-120"/>
              </a:rPr>
              <a:t>04</a:t>
            </a:r>
            <a:endParaRPr lang="en-US" sz="1550" dirty="0"/>
          </a:p>
        </p:txBody>
      </p:sp>
      <p:sp>
        <p:nvSpPr>
          <p:cNvPr id="17" name="Shape 15"/>
          <p:cNvSpPr/>
          <p:nvPr/>
        </p:nvSpPr>
        <p:spPr>
          <a:xfrm>
            <a:off x="7414379" y="5036701"/>
            <a:ext cx="6422231" cy="22860"/>
          </a:xfrm>
          <a:prstGeom prst="rect">
            <a:avLst/>
          </a:prstGeom>
          <a:solidFill>
            <a:srgbClr val="AC9EF5"/>
          </a:solidFill>
        </p:spPr>
      </p:sp>
      <p:sp>
        <p:nvSpPr>
          <p:cNvPr id="18" name="Text 16"/>
          <p:cNvSpPr/>
          <p:nvPr/>
        </p:nvSpPr>
        <p:spPr>
          <a:xfrm>
            <a:off x="7414379" y="5181600"/>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Rank Cells by WAPE</a:t>
            </a:r>
            <a:endParaRPr lang="en-US" sz="1950" dirty="0"/>
          </a:p>
        </p:txBody>
      </p:sp>
      <p:sp>
        <p:nvSpPr>
          <p:cNvPr id="19" name="Text 17"/>
          <p:cNvSpPr/>
          <p:nvPr/>
        </p:nvSpPr>
        <p:spPr>
          <a:xfrm>
            <a:off x="7414379" y="5610820"/>
            <a:ext cx="6422231"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Sort all 5-dimensional cells from most predictable (low WAPE) to least predictable (high WAPE)</a:t>
            </a:r>
            <a:endParaRPr lang="en-US" sz="1550" dirty="0"/>
          </a:p>
        </p:txBody>
      </p:sp>
      <p:sp>
        <p:nvSpPr>
          <p:cNvPr id="20" name="Text 18"/>
          <p:cNvSpPr/>
          <p:nvPr/>
        </p:nvSpPr>
        <p:spPr>
          <a:xfrm>
            <a:off x="793790" y="6617970"/>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D6D9D7"/>
                </a:solidFill>
                <a:latin typeface="Inter" panose="02000503000000020004" pitchFamily="34" charset="0"/>
                <a:ea typeface="Inter" panose="02000503000000020004" pitchFamily="34" charset="-122"/>
                <a:cs typeface="Inter" panose="02000503000000020004" pitchFamily="34" charset="-120"/>
              </a:rPr>
              <a:t>This benchmark reveals which demand profiles are naturally easier to forecast. Low WAPE cells indicate stable, predictable patterns; high WAPE cells signal complex, difficult-to-predict demand requiring sophisticated approaches or alternative planning strategies.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6279" y="636627"/>
            <a:ext cx="9075777" cy="551855"/>
          </a:xfrm>
          <a:prstGeom prst="rect">
            <a:avLst/>
          </a:prstGeom>
          <a:noFill/>
        </p:spPr>
        <p:txBody>
          <a:bodyPr wrap="none" lIns="0" tIns="0" rIns="0" bIns="0" rtlCol="0" anchor="t"/>
          <a:lstStyle/>
          <a:p>
            <a:pPr marL="0" indent="0" algn="l">
              <a:lnSpc>
                <a:spcPts val="4300"/>
              </a:lnSpc>
              <a:buNone/>
            </a:pPr>
            <a:r>
              <a:rPr lang="en-US" sz="3450" dirty="0">
                <a:solidFill>
                  <a:srgbClr val="F7F7F8"/>
                </a:solidFill>
                <a:latin typeface="DM Sans Medium" pitchFamily="34" charset="0"/>
                <a:ea typeface="DM Sans Medium" pitchFamily="34" charset="-122"/>
                <a:cs typeface="DM Sans Medium" pitchFamily="34" charset="-120"/>
              </a:rPr>
              <a:t>Clustering via ABC-Weighted Segmentation</a:t>
            </a:r>
            <a:endParaRPr lang="en-US" sz="3450" dirty="0"/>
          </a:p>
        </p:txBody>
      </p:sp>
      <p:sp>
        <p:nvSpPr>
          <p:cNvPr id="3" name="Text 1"/>
          <p:cNvSpPr/>
          <p:nvPr/>
        </p:nvSpPr>
        <p:spPr>
          <a:xfrm>
            <a:off x="706279" y="1541621"/>
            <a:ext cx="13217843" cy="564833"/>
          </a:xfrm>
          <a:prstGeom prst="rect">
            <a:avLst/>
          </a:prstGeom>
          <a:noFill/>
        </p:spPr>
        <p:txBody>
          <a:bodyPr wrap="square" lIns="0" tIns="0" rIns="0" bIns="0" rtlCol="0" anchor="t"/>
          <a:lstStyle/>
          <a:p>
            <a:pPr marL="0" indent="0" algn="l">
              <a:lnSpc>
                <a:spcPts val="2200"/>
              </a:lnSpc>
              <a:buNone/>
            </a:pP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The final aggregation step combines business importance with forecastability characteristics. We use ABC analysis to prioritize cells by volume, then create forecastability clusters within each importance tier.</a:t>
            </a:r>
            <a:endParaRPr lang="en-US" sz="1350" dirty="0"/>
          </a:p>
        </p:txBody>
      </p:sp>
      <p:sp>
        <p:nvSpPr>
          <p:cNvPr id="4" name="Text 2"/>
          <p:cNvSpPr/>
          <p:nvPr/>
        </p:nvSpPr>
        <p:spPr>
          <a:xfrm>
            <a:off x="706279" y="2481620"/>
            <a:ext cx="2648783" cy="331113"/>
          </a:xfrm>
          <a:prstGeom prst="rect">
            <a:avLst/>
          </a:prstGeom>
          <a:noFill/>
        </p:spPr>
        <p:txBody>
          <a:bodyPr wrap="none" lIns="0" tIns="0" rIns="0" bIns="0" rtlCol="0" anchor="t"/>
          <a:lstStyle/>
          <a:p>
            <a:pPr marL="0" indent="0" algn="l">
              <a:lnSpc>
                <a:spcPts val="2600"/>
              </a:lnSpc>
              <a:buNone/>
            </a:pPr>
            <a:r>
              <a:rPr lang="en-US" sz="2050" dirty="0">
                <a:solidFill>
                  <a:srgbClr val="F7F7F8"/>
                </a:solidFill>
                <a:latin typeface="DM Sans Medium" pitchFamily="34" charset="0"/>
                <a:ea typeface="DM Sans Medium" pitchFamily="34" charset="-122"/>
                <a:cs typeface="DM Sans Medium" pitchFamily="34" charset="-120"/>
              </a:rPr>
              <a:t>ABC Classification</a:t>
            </a:r>
            <a:endParaRPr lang="en-US" sz="2050" dirty="0"/>
          </a:p>
        </p:txBody>
      </p:sp>
      <p:sp>
        <p:nvSpPr>
          <p:cNvPr id="5" name="Text 3"/>
          <p:cNvSpPr/>
          <p:nvPr/>
        </p:nvSpPr>
        <p:spPr>
          <a:xfrm>
            <a:off x="706279" y="2989302"/>
            <a:ext cx="6393537" cy="282416"/>
          </a:xfrm>
          <a:prstGeom prst="rect">
            <a:avLst/>
          </a:prstGeom>
          <a:noFill/>
        </p:spPr>
        <p:txBody>
          <a:bodyPr wrap="none" lIns="0" tIns="0" rIns="0" bIns="0" rtlCol="0" anchor="t"/>
          <a:lstStyle/>
          <a:p>
            <a:pPr marL="0" indent="0" algn="l">
              <a:lnSpc>
                <a:spcPts val="2200"/>
              </a:lnSpc>
              <a:buNone/>
            </a:pP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Cells are first classified by total demand volume:</a:t>
            </a:r>
            <a:endParaRPr lang="en-US" sz="1350" dirty="0"/>
          </a:p>
        </p:txBody>
      </p:sp>
      <p:sp>
        <p:nvSpPr>
          <p:cNvPr id="6" name="Text 4"/>
          <p:cNvSpPr/>
          <p:nvPr/>
        </p:nvSpPr>
        <p:spPr>
          <a:xfrm>
            <a:off x="706279" y="3430548"/>
            <a:ext cx="6393537" cy="282416"/>
          </a:xfrm>
          <a:prstGeom prst="rect">
            <a:avLst/>
          </a:prstGeom>
          <a:noFill/>
        </p:spPr>
        <p:txBody>
          <a:bodyPr wrap="none" lIns="0" tIns="0" rIns="0" bIns="0" rtlCol="0" anchor="t"/>
          <a:lstStyle/>
          <a:p>
            <a:pPr marL="0" indent="0" algn="l">
              <a:lnSpc>
                <a:spcPts val="2200"/>
              </a:lnSpc>
              <a:buSzPct val="100000"/>
              <a:buNone/>
            </a:pPr>
            <a:r>
              <a:rPr lang="en-US" sz="1350" b="1" dirty="0">
                <a:solidFill>
                  <a:srgbClr val="D6D9D7"/>
                </a:solidFill>
                <a:latin typeface="Inter" panose="02000503000000020004" pitchFamily="34" charset="0"/>
                <a:ea typeface="Inter" panose="02000503000000020004" pitchFamily="34" charset="-122"/>
                <a:cs typeface="Inter" panose="02000503000000020004" pitchFamily="34" charset="-120"/>
              </a:rPr>
              <a:t>Class A:</a:t>
            </a: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 High-impact cells representing majority of business volume</a:t>
            </a:r>
            <a:endParaRPr lang="en-US" sz="1350" dirty="0"/>
          </a:p>
        </p:txBody>
      </p:sp>
      <p:sp>
        <p:nvSpPr>
          <p:cNvPr id="7" name="Text 5"/>
          <p:cNvSpPr/>
          <p:nvPr/>
        </p:nvSpPr>
        <p:spPr>
          <a:xfrm>
            <a:off x="706279" y="3774758"/>
            <a:ext cx="6393537" cy="282416"/>
          </a:xfrm>
          <a:prstGeom prst="rect">
            <a:avLst/>
          </a:prstGeom>
          <a:noFill/>
        </p:spPr>
        <p:txBody>
          <a:bodyPr wrap="none" lIns="0" tIns="0" rIns="0" bIns="0" rtlCol="0" anchor="t"/>
          <a:lstStyle/>
          <a:p>
            <a:pPr marL="0" indent="0" algn="l">
              <a:lnSpc>
                <a:spcPts val="2200"/>
              </a:lnSpc>
              <a:buSzPct val="100000"/>
              <a:buNone/>
            </a:pPr>
            <a:r>
              <a:rPr lang="en-US" sz="1350" b="1" dirty="0">
                <a:solidFill>
                  <a:srgbClr val="D6D9D7"/>
                </a:solidFill>
                <a:latin typeface="Inter" panose="02000503000000020004" pitchFamily="34" charset="0"/>
                <a:ea typeface="Inter" panose="02000503000000020004" pitchFamily="34" charset="-122"/>
                <a:cs typeface="Inter" panose="02000503000000020004" pitchFamily="34" charset="-120"/>
              </a:rPr>
              <a:t>Class B:</a:t>
            </a: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 Medium-importance cells with moderate volume contribution</a:t>
            </a:r>
            <a:endParaRPr lang="en-US" sz="1350" dirty="0"/>
          </a:p>
        </p:txBody>
      </p:sp>
      <p:sp>
        <p:nvSpPr>
          <p:cNvPr id="8" name="Text 6"/>
          <p:cNvSpPr/>
          <p:nvPr/>
        </p:nvSpPr>
        <p:spPr>
          <a:xfrm>
            <a:off x="706279" y="4118967"/>
            <a:ext cx="6393537" cy="282416"/>
          </a:xfrm>
          <a:prstGeom prst="rect">
            <a:avLst/>
          </a:prstGeom>
          <a:noFill/>
        </p:spPr>
        <p:txBody>
          <a:bodyPr wrap="none" lIns="0" tIns="0" rIns="0" bIns="0" rtlCol="0" anchor="t"/>
          <a:lstStyle/>
          <a:p>
            <a:pPr marL="0" indent="0" algn="l">
              <a:lnSpc>
                <a:spcPts val="2200"/>
              </a:lnSpc>
              <a:buSzPct val="100000"/>
              <a:buNone/>
            </a:pPr>
            <a:r>
              <a:rPr lang="en-US" sz="1350" b="1" dirty="0">
                <a:solidFill>
                  <a:srgbClr val="D6D9D7"/>
                </a:solidFill>
                <a:latin typeface="Inter" panose="02000503000000020004" pitchFamily="34" charset="0"/>
                <a:ea typeface="Inter" panose="02000503000000020004" pitchFamily="34" charset="-122"/>
                <a:cs typeface="Inter" panose="02000503000000020004" pitchFamily="34" charset="-120"/>
              </a:rPr>
              <a:t>Class C:</a:t>
            </a: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 Long-tail cells with minimal individual volume</a:t>
            </a:r>
            <a:endParaRPr lang="en-US" sz="1350" dirty="0"/>
          </a:p>
        </p:txBody>
      </p:sp>
      <p:sp>
        <p:nvSpPr>
          <p:cNvPr id="9" name="Text 7"/>
          <p:cNvSpPr/>
          <p:nvPr/>
        </p:nvSpPr>
        <p:spPr>
          <a:xfrm>
            <a:off x="7538204" y="2481620"/>
            <a:ext cx="2980849" cy="331113"/>
          </a:xfrm>
          <a:prstGeom prst="rect">
            <a:avLst/>
          </a:prstGeom>
          <a:noFill/>
        </p:spPr>
        <p:txBody>
          <a:bodyPr wrap="none" lIns="0" tIns="0" rIns="0" bIns="0" rtlCol="0" anchor="t"/>
          <a:lstStyle/>
          <a:p>
            <a:pPr marL="0" indent="0" algn="l">
              <a:lnSpc>
                <a:spcPts val="2600"/>
              </a:lnSpc>
              <a:buNone/>
            </a:pPr>
            <a:r>
              <a:rPr lang="en-US" sz="2050" dirty="0">
                <a:solidFill>
                  <a:srgbClr val="F7F7F8"/>
                </a:solidFill>
                <a:latin typeface="DM Sans Medium" pitchFamily="34" charset="0"/>
                <a:ea typeface="DM Sans Medium" pitchFamily="34" charset="-122"/>
                <a:cs typeface="DM Sans Medium" pitchFamily="34" charset="-120"/>
              </a:rPr>
              <a:t>WAPE-Based Clustering</a:t>
            </a:r>
            <a:endParaRPr lang="en-US" sz="2050" dirty="0"/>
          </a:p>
        </p:txBody>
      </p:sp>
      <p:sp>
        <p:nvSpPr>
          <p:cNvPr id="10" name="Text 8"/>
          <p:cNvSpPr/>
          <p:nvPr/>
        </p:nvSpPr>
        <p:spPr>
          <a:xfrm>
            <a:off x="7538204" y="2989302"/>
            <a:ext cx="6393537" cy="282416"/>
          </a:xfrm>
          <a:prstGeom prst="rect">
            <a:avLst/>
          </a:prstGeom>
          <a:noFill/>
        </p:spPr>
        <p:txBody>
          <a:bodyPr wrap="none" lIns="0" tIns="0" rIns="0" bIns="0" rtlCol="0" anchor="t"/>
          <a:lstStyle/>
          <a:p>
            <a:pPr marL="0" indent="0" algn="l">
              <a:lnSpc>
                <a:spcPts val="2200"/>
              </a:lnSpc>
              <a:buNone/>
            </a:pP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Within each ABC tier, cells group by forecastability:</a:t>
            </a:r>
            <a:endParaRPr lang="en-US" sz="1350" dirty="0"/>
          </a:p>
        </p:txBody>
      </p:sp>
      <p:sp>
        <p:nvSpPr>
          <p:cNvPr id="11" name="Text 9"/>
          <p:cNvSpPr/>
          <p:nvPr/>
        </p:nvSpPr>
        <p:spPr>
          <a:xfrm>
            <a:off x="7538204" y="3430548"/>
            <a:ext cx="6393537" cy="282416"/>
          </a:xfrm>
          <a:prstGeom prst="rect">
            <a:avLst/>
          </a:prstGeom>
          <a:noFill/>
        </p:spPr>
        <p:txBody>
          <a:bodyPr wrap="none" lIns="0" tIns="0" rIns="0" bIns="0" rtlCol="0" anchor="t"/>
          <a:lstStyle/>
          <a:p>
            <a:pPr marL="0" indent="0" algn="l">
              <a:lnSpc>
                <a:spcPts val="2200"/>
              </a:lnSpc>
              <a:buSzPct val="100000"/>
              <a:buNone/>
            </a:pPr>
            <a:r>
              <a:rPr lang="en-US" sz="1350" b="1" dirty="0">
                <a:solidFill>
                  <a:srgbClr val="D6D9D7"/>
                </a:solidFill>
                <a:latin typeface="Inter" panose="02000503000000020004" pitchFamily="34" charset="0"/>
                <a:ea typeface="Inter" panose="02000503000000020004" pitchFamily="34" charset="-122"/>
                <a:cs typeface="Inter" panose="02000503000000020004" pitchFamily="34" charset="-120"/>
              </a:rPr>
              <a:t>A-clusters:</a:t>
            </a: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 5+ granular segments (A1-A5) for critical items</a:t>
            </a:r>
            <a:endParaRPr lang="en-US" sz="1350" dirty="0"/>
          </a:p>
        </p:txBody>
      </p:sp>
      <p:sp>
        <p:nvSpPr>
          <p:cNvPr id="12" name="Text 10"/>
          <p:cNvSpPr/>
          <p:nvPr/>
        </p:nvSpPr>
        <p:spPr>
          <a:xfrm>
            <a:off x="7538204" y="3774758"/>
            <a:ext cx="6393537" cy="282416"/>
          </a:xfrm>
          <a:prstGeom prst="rect">
            <a:avLst/>
          </a:prstGeom>
          <a:noFill/>
        </p:spPr>
        <p:txBody>
          <a:bodyPr wrap="none" lIns="0" tIns="0" rIns="0" bIns="0" rtlCol="0" anchor="t"/>
          <a:lstStyle/>
          <a:p>
            <a:pPr marL="0" indent="0" algn="l">
              <a:lnSpc>
                <a:spcPts val="2200"/>
              </a:lnSpc>
              <a:buSzPct val="100000"/>
              <a:buNone/>
            </a:pPr>
            <a:r>
              <a:rPr lang="en-US" sz="1350" b="1" dirty="0">
                <a:solidFill>
                  <a:srgbClr val="D6D9D7"/>
                </a:solidFill>
                <a:latin typeface="Inter" panose="02000503000000020004" pitchFamily="34" charset="0"/>
                <a:ea typeface="Inter" panose="02000503000000020004" pitchFamily="34" charset="-122"/>
                <a:cs typeface="Inter" panose="02000503000000020004" pitchFamily="34" charset="-120"/>
              </a:rPr>
              <a:t>B-clusters:</a:t>
            </a: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 3 medium-grain segments (B1-B3)</a:t>
            </a:r>
            <a:endParaRPr lang="en-US" sz="1350" dirty="0"/>
          </a:p>
        </p:txBody>
      </p:sp>
      <p:sp>
        <p:nvSpPr>
          <p:cNvPr id="13" name="Text 11"/>
          <p:cNvSpPr/>
          <p:nvPr/>
        </p:nvSpPr>
        <p:spPr>
          <a:xfrm>
            <a:off x="7538204" y="4118967"/>
            <a:ext cx="6393537" cy="282416"/>
          </a:xfrm>
          <a:prstGeom prst="rect">
            <a:avLst/>
          </a:prstGeom>
          <a:noFill/>
        </p:spPr>
        <p:txBody>
          <a:bodyPr wrap="none" lIns="0" tIns="0" rIns="0" bIns="0" rtlCol="0" anchor="t"/>
          <a:lstStyle/>
          <a:p>
            <a:pPr marL="0" indent="0" algn="l">
              <a:lnSpc>
                <a:spcPts val="2200"/>
              </a:lnSpc>
              <a:buSzPct val="100000"/>
              <a:buNone/>
            </a:pPr>
            <a:r>
              <a:rPr lang="en-US" sz="1350" b="1" dirty="0">
                <a:solidFill>
                  <a:srgbClr val="D6D9D7"/>
                </a:solidFill>
                <a:latin typeface="Inter" panose="02000503000000020004" pitchFamily="34" charset="0"/>
                <a:ea typeface="Inter" panose="02000503000000020004" pitchFamily="34" charset="-122"/>
                <a:cs typeface="Inter" panose="02000503000000020004" pitchFamily="34" charset="-120"/>
              </a:rPr>
              <a:t>C-clusters:</a:t>
            </a: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 2 coarse segments (C1-C2) for tail</a:t>
            </a:r>
            <a:endParaRPr lang="en-US" sz="1350" dirty="0"/>
          </a:p>
        </p:txBody>
      </p:sp>
      <p:sp>
        <p:nvSpPr>
          <p:cNvPr id="14" name="Text 12"/>
          <p:cNvSpPr/>
          <p:nvPr/>
        </p:nvSpPr>
        <p:spPr>
          <a:xfrm>
            <a:off x="706279" y="4661773"/>
            <a:ext cx="13217843" cy="847249"/>
          </a:xfrm>
          <a:prstGeom prst="rect">
            <a:avLst/>
          </a:prstGeom>
          <a:noFill/>
        </p:spPr>
        <p:txBody>
          <a:bodyPr wrap="square" lIns="0" tIns="0" rIns="0" bIns="0" rtlCol="0" anchor="t"/>
          <a:lstStyle/>
          <a:p>
            <a:pPr marL="0" indent="0" algn="l">
              <a:lnSpc>
                <a:spcPts val="2200"/>
              </a:lnSpc>
              <a:buNone/>
            </a:pP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Volume-weighted quantiles ensure each cluster contains similar WAPE ranges while respecting business importance. This produces an interpretable map: "A1" represents high-volume, highly-forecastable demand ideal for automated forecasting; "C2" represents low-volume, unpredictable demand requiring manual intervention or alternative strategies.</a:t>
            </a:r>
            <a:endParaRPr lang="en-US" sz="1350" dirty="0"/>
          </a:p>
        </p:txBody>
      </p:sp>
      <p:sp>
        <p:nvSpPr>
          <p:cNvPr id="15" name="Shape 13"/>
          <p:cNvSpPr/>
          <p:nvPr/>
        </p:nvSpPr>
        <p:spPr>
          <a:xfrm>
            <a:off x="706279" y="5795819"/>
            <a:ext cx="13217843" cy="29647"/>
          </a:xfrm>
          <a:prstGeom prst="rect">
            <a:avLst/>
          </a:prstGeom>
          <a:solidFill>
            <a:srgbClr val="D6D9D7">
              <a:alpha val="50000"/>
            </a:srgbClr>
          </a:solidFill>
        </p:spPr>
      </p:sp>
      <p:sp>
        <p:nvSpPr>
          <p:cNvPr id="16" name="Text 14"/>
          <p:cNvSpPr/>
          <p:nvPr/>
        </p:nvSpPr>
        <p:spPr>
          <a:xfrm>
            <a:off x="971074" y="6288762"/>
            <a:ext cx="2207300" cy="275868"/>
          </a:xfrm>
          <a:prstGeom prst="rect">
            <a:avLst/>
          </a:prstGeom>
          <a:noFill/>
        </p:spPr>
        <p:txBody>
          <a:bodyPr wrap="none" lIns="0" tIns="0" rIns="0" bIns="0" rtlCol="0" anchor="t"/>
          <a:lstStyle/>
          <a:p>
            <a:pPr marL="0" indent="0" algn="l">
              <a:lnSpc>
                <a:spcPts val="2150"/>
              </a:lnSpc>
              <a:buNone/>
            </a:pPr>
            <a:r>
              <a:rPr lang="en-US" sz="1700" dirty="0">
                <a:solidFill>
                  <a:srgbClr val="F7F7F8"/>
                </a:solidFill>
                <a:latin typeface="DM Sans Medium" pitchFamily="34" charset="0"/>
                <a:ea typeface="DM Sans Medium" pitchFamily="34" charset="-122"/>
                <a:cs typeface="DM Sans Medium" pitchFamily="34" charset="-120"/>
              </a:rPr>
              <a:t>Operational Value</a:t>
            </a:r>
            <a:endParaRPr lang="en-US" sz="1700" dirty="0"/>
          </a:p>
        </p:txBody>
      </p:sp>
      <p:sp>
        <p:nvSpPr>
          <p:cNvPr id="17" name="Text 15"/>
          <p:cNvSpPr/>
          <p:nvPr/>
        </p:nvSpPr>
        <p:spPr>
          <a:xfrm>
            <a:off x="971074" y="6829425"/>
            <a:ext cx="12953048" cy="564833"/>
          </a:xfrm>
          <a:prstGeom prst="rect">
            <a:avLst/>
          </a:prstGeom>
          <a:noFill/>
        </p:spPr>
        <p:txBody>
          <a:bodyPr wrap="square" lIns="0" tIns="0" rIns="0" bIns="0" rtlCol="0" anchor="t"/>
          <a:lstStyle/>
          <a:p>
            <a:pPr marL="0" indent="0" algn="l">
              <a:lnSpc>
                <a:spcPts val="2200"/>
              </a:lnSpc>
              <a:buNone/>
            </a:pPr>
            <a:r>
              <a:rPr lang="en-US" sz="1350" dirty="0">
                <a:solidFill>
                  <a:srgbClr val="D6D9D7"/>
                </a:solidFill>
                <a:latin typeface="Inter" panose="02000503000000020004" pitchFamily="34" charset="0"/>
                <a:ea typeface="Inter" panose="02000503000000020004" pitchFamily="34" charset="-122"/>
                <a:cs typeface="Inter" panose="02000503000000020004" pitchFamily="34" charset="-120"/>
              </a:rPr>
              <a:t>This framework delivers three critical capabilities: an interpretable forecastability map showing where predictions work well, business-driven prioritization via ABC classification, and actionable segmentation enabling tailored model selection and inventory planning strategies for each demand profile.</a:t>
            </a:r>
            <a:endParaRPr lang="en-US" sz="1350" dirty="0"/>
          </a:p>
        </p:txBody>
      </p:sp>
      <p:sp>
        <p:nvSpPr>
          <p:cNvPr id="18" name="Shape 16"/>
          <p:cNvSpPr/>
          <p:nvPr/>
        </p:nvSpPr>
        <p:spPr>
          <a:xfrm>
            <a:off x="706279" y="6023967"/>
            <a:ext cx="22860" cy="1568887"/>
          </a:xfrm>
          <a:prstGeom prst="rect">
            <a:avLst/>
          </a:prstGeom>
          <a:solidFill>
            <a:srgbClr val="AC9EF5"/>
          </a:solid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4083</Words>
  <Application>WPS Presentation</Application>
  <PresentationFormat>On-screen Show (16:9)</PresentationFormat>
  <Paragraphs>94</Paragraphs>
  <Slides>4</Slides>
  <Notes>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vt:i4>
      </vt:variant>
    </vt:vector>
  </HeadingPairs>
  <TitlesOfParts>
    <vt:vector size="22" baseType="lpstr">
      <vt:lpstr>Arial</vt:lpstr>
      <vt:lpstr>SimSun</vt:lpstr>
      <vt:lpstr>Wingdings</vt:lpstr>
      <vt:lpstr>DM Sans Medium</vt:lpstr>
      <vt:lpstr>DM Sans Medium</vt:lpstr>
      <vt:lpstr>DM Sans Medium</vt:lpstr>
      <vt:lpstr>Inter</vt:lpstr>
      <vt:lpstr>Inter</vt:lpstr>
      <vt:lpstr>Inter</vt:lpstr>
      <vt:lpstr>DM Sans Light</vt:lpstr>
      <vt:lpstr>SWAstro</vt:lpstr>
      <vt:lpstr>DM Sans Light</vt:lpstr>
      <vt:lpstr>DM Sans Light</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HYPERPC</cp:lastModifiedBy>
  <cp:revision>2</cp:revision>
  <dcterms:created xsi:type="dcterms:W3CDTF">2025-12-17T20:08:00Z</dcterms:created>
  <dcterms:modified xsi:type="dcterms:W3CDTF">2025-12-17T20:10:53Z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2781859C82F34E279D557E363BB68DE9_13</vt:lpwstr>
  </property>
  <property fmtid="{D5CDD505-2E9C-101B-9397-08002B2CF9AE}" pid="3" name="KSOProductBuildVer">
    <vt:lpwstr>1049-12.2.0.23155</vt:lpwstr>
  </property>
</Properties>
</file>